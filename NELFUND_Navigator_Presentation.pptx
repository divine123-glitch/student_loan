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1" r:id="rId8"/>
    <p:sldId id="272" r:id="rId9"/>
    <p:sldId id="273" r:id="rId10"/>
    <p:sldId id="262" r:id="rId11"/>
    <p:sldId id="274" r:id="rId12"/>
    <p:sldId id="275" r:id="rId13"/>
    <p:sldId id="263" r:id="rId14"/>
    <p:sldId id="264" r:id="rId15"/>
    <p:sldId id="276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19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8942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7015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18292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5395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5943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25855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6912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720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54542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37781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395890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3848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9655517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71384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91197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26531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782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845820"/>
            <a:ext cx="82296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667EEA"/>
                </a:solidFill>
              </a:defRPr>
            </a:pPr>
            <a:r>
              <a:rPr dirty="0"/>
              <a:t>🎓 NELFUND </a:t>
            </a:r>
            <a:r>
              <a:rPr lang="en-US" dirty="0"/>
              <a:t>NAVIGATOR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3149858"/>
            <a:ext cx="80772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555555"/>
                </a:solidFill>
              </a:defRPr>
            </a:pPr>
            <a:r>
              <a:rPr sz="2400" i="1" dirty="0">
                <a:latin typeface="Gill Sans MT Condensed" panose="020B0506020104020203" pitchFamily="34" charset="0"/>
              </a:rPr>
              <a:t>AI-Powered Student Loan Assistant for Nigerian Students</a:t>
            </a:r>
            <a:r>
              <a:rPr lang="en-US" sz="2400" i="1" dirty="0">
                <a:latin typeface="Gill Sans MT Condensed" panose="020B0506020104020203" pitchFamily="34" charset="0"/>
              </a:rPr>
              <a:t>.</a:t>
            </a:r>
          </a:p>
          <a:p>
            <a:pPr algn="ctr">
              <a:defRPr sz="2800">
                <a:solidFill>
                  <a:srgbClr val="555555"/>
                </a:solidFill>
              </a:defRPr>
            </a:pPr>
            <a:endParaRPr lang="en-US" sz="2400" i="1" dirty="0">
              <a:latin typeface="Gill Sans MT Condensed" panose="020B0506020104020203" pitchFamily="34" charset="0"/>
            </a:endParaRPr>
          </a:p>
          <a:p>
            <a:pPr algn="ctr">
              <a:defRPr sz="2800">
                <a:solidFill>
                  <a:srgbClr val="555555"/>
                </a:solidFill>
              </a:defRPr>
            </a:pPr>
            <a:r>
              <a:rPr lang="en-US" sz="2400" i="1" dirty="0">
                <a:latin typeface="Gill Sans MT Condensed" panose="020B0506020104020203" pitchFamily="34" charset="0"/>
              </a:rPr>
              <a:t>BY.</a:t>
            </a:r>
          </a:p>
          <a:p>
            <a:pPr algn="ctr">
              <a:defRPr sz="2800">
                <a:solidFill>
                  <a:srgbClr val="555555"/>
                </a:solidFill>
              </a:defRPr>
            </a:pPr>
            <a:endParaRPr lang="en-US" sz="2400" i="1" dirty="0">
              <a:latin typeface="Gill Sans MT Condensed" panose="020B0506020104020203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  <a:defRPr sz="2800">
                <a:solidFill>
                  <a:srgbClr val="555555"/>
                </a:solidFill>
              </a:defRPr>
            </a:pPr>
            <a:r>
              <a:rPr lang="en-US" sz="2400" dirty="0">
                <a:latin typeface="Gill Sans MT Condensed" panose="020B0506020104020203" pitchFamily="34" charset="0"/>
              </a:rPr>
              <a:t>Divine Gbadamosi. (Team Lead, Backend Lead,  and RAG Architecture)  </a:t>
            </a:r>
          </a:p>
          <a:p>
            <a:pPr marL="342900" indent="-342900">
              <a:buFont typeface="Wingdings" panose="05000000000000000000" pitchFamily="2" charset="2"/>
              <a:buChar char="Ø"/>
              <a:defRPr sz="2800">
                <a:solidFill>
                  <a:srgbClr val="555555"/>
                </a:solidFill>
              </a:defRPr>
            </a:pPr>
            <a:r>
              <a:rPr lang="en-US" sz="2400" dirty="0">
                <a:latin typeface="Gill Sans MT Condensed" panose="020B0506020104020203" pitchFamily="34" charset="0"/>
              </a:rPr>
              <a:t>Oluwole Oludayo. (Solution Overview and Team Adviser)</a:t>
            </a:r>
          </a:p>
          <a:p>
            <a:pPr marL="342900" indent="-342900">
              <a:buFont typeface="Wingdings" panose="05000000000000000000" pitchFamily="2" charset="2"/>
              <a:buChar char="Ø"/>
              <a:defRPr sz="2800">
                <a:solidFill>
                  <a:srgbClr val="555555"/>
                </a:solidFill>
              </a:defRPr>
            </a:pPr>
            <a:r>
              <a:rPr lang="en-US" sz="2400" dirty="0">
                <a:latin typeface="Gill Sans MT Condensed" panose="020B0506020104020203" pitchFamily="34" charset="0"/>
              </a:rPr>
              <a:t>Gbemisola Ololade Victoria. (Frontend Developer)</a:t>
            </a:r>
          </a:p>
          <a:p>
            <a:pPr marL="342900" indent="-342900">
              <a:buFont typeface="Wingdings" panose="05000000000000000000" pitchFamily="2" charset="2"/>
              <a:buChar char="Ø"/>
              <a:defRPr sz="2800">
                <a:solidFill>
                  <a:srgbClr val="555555"/>
                </a:solidFill>
              </a:defRPr>
            </a:pPr>
            <a:r>
              <a:rPr lang="en-US" sz="2400" dirty="0">
                <a:latin typeface="Gill Sans MT Condensed" panose="020B0506020104020203" pitchFamily="34" charset="0"/>
              </a:rPr>
              <a:t>Odefemi Adebola Adebisi. (Frontend Developer)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383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333333"/>
                </a:solidFill>
              </a:defRPr>
            </a:pPr>
            <a:r>
              <a:rPr dirty="0"/>
              <a:t>🎯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8288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❌ Information Overload - 500+ pages of policy documents scattered across PDFs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❌ Confusion &amp; Uncertainty - 'Am I eligible?' 'What documents do I need?'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❌ Misinformation - Social media rumors leading to wrong decisions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❌ Complex Language - Legal terminology that confuses students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💡 Students need simple, accurate answers - not 500-page PDFs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90675" y="923925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333333"/>
                </a:solidFill>
              </a:defRPr>
            </a:pPr>
            <a:r>
              <a:rPr dirty="0"/>
              <a:t>💡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8225" y="19812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🤖 Agentic RAG System - Smart document retrieval with conditional logic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💬 Natural Conversations - Ask in plain English, get document-backed answers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📚 Source Citations - Every answer includes references to official documents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🧠 Conversation Memory - Remembers context for intelligent follow-ups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🎯 Your Path to Higher Education Starts Here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88011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333333"/>
                </a:solidFill>
              </a:defRPr>
            </a:pPr>
            <a:r>
              <a:rPr dirty="0"/>
              <a:t>🛠️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47775" y="2074545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Backend: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</a:t>
            </a:r>
            <a:r>
              <a:rPr dirty="0" err="1"/>
              <a:t>FastAPI</a:t>
            </a:r>
            <a:endParaRPr dirty="0"/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</a:t>
            </a:r>
            <a:r>
              <a:rPr dirty="0" err="1"/>
              <a:t>LangChain</a:t>
            </a:r>
            <a:endParaRPr dirty="0"/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</a:t>
            </a:r>
            <a:r>
              <a:rPr dirty="0" err="1"/>
              <a:t>LangGraph</a:t>
            </a:r>
            <a:endParaRPr dirty="0"/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OpenAI GPT-4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</a:t>
            </a:r>
            <a:r>
              <a:rPr dirty="0" err="1"/>
              <a:t>ChromaDB</a:t>
            </a:r>
            <a:endParaRPr dirty="0"/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JWT 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8205" y="2074545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Frontend: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React 18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Vite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Tailwind CSS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React Router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Axios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97155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333333"/>
                </a:solidFill>
              </a:defRPr>
            </a:pPr>
            <a:r>
              <a:rPr dirty="0"/>
              <a:t>🏗️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098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User Question → Frontend (React) → Backend API (</a:t>
            </a:r>
            <a:r>
              <a:rPr dirty="0" err="1"/>
              <a:t>FastAPI</a:t>
            </a:r>
            <a:r>
              <a:rPr dirty="0"/>
              <a:t>)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→ Agent Classification (</a:t>
            </a:r>
            <a:r>
              <a:rPr dirty="0" err="1"/>
              <a:t>LangGraph</a:t>
            </a:r>
            <a:r>
              <a:rPr dirty="0"/>
              <a:t>) → Document Retrieval (Conditional)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→ LLM Generation (GPT-4) → Response + Sources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🗄️ Dual Database: </a:t>
            </a:r>
            <a:r>
              <a:rPr dirty="0" err="1"/>
              <a:t>chroma_users</a:t>
            </a:r>
            <a:r>
              <a:rPr dirty="0"/>
              <a:t>/ (user data) &amp; </a:t>
            </a:r>
            <a:r>
              <a:rPr dirty="0" err="1"/>
              <a:t>chroma_db</a:t>
            </a:r>
            <a:r>
              <a:rPr dirty="0"/>
              <a:t>/ (documents)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🔒 Security: JWT tokens, </a:t>
            </a:r>
            <a:r>
              <a:rPr dirty="0" err="1"/>
              <a:t>bcrypt</a:t>
            </a:r>
            <a:r>
              <a:rPr dirty="0"/>
              <a:t> passwords, CORS protection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81150" y="1019175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333333"/>
                </a:solidFill>
              </a:defRPr>
            </a:pPr>
            <a:r>
              <a:rPr dirty="0"/>
              <a:t>✨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1100" y="222885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🏠 Interactive Homepage - Modern design with feature showcase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🔐 Secure Authentication - JWT tokens + </a:t>
            </a:r>
            <a:r>
              <a:rPr dirty="0" err="1"/>
              <a:t>bcrypt</a:t>
            </a:r>
            <a:r>
              <a:rPr dirty="0"/>
              <a:t> password hashing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💬 Chat Interface - Claude AI-inspired design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🌙 Dark/Light Mode - Theme toggle for comfortable use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📱 Mobile Responsive - Works perfectly on all devices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4C4444-F05C-BE4F-F067-E2BE5BBD4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68284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C05083-D1B9-7B48-48AF-BA1909F0A8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342"/>
          <a:stretch>
            <a:fillRect/>
          </a:stretch>
        </p:blipFill>
        <p:spPr>
          <a:xfrm>
            <a:off x="0" y="-1"/>
            <a:ext cx="9144000" cy="685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41701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A2160C-03CB-54F4-A8F1-B37E29EB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80449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7700" y="1099185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333333"/>
                </a:solidFill>
              </a:defRPr>
            </a:pPr>
            <a:r>
              <a:rPr dirty="0"/>
              <a:t>💬 Chat Interface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0600" y="242697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User Features: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Collapsible sidebar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Chat history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Suggested prompts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Source citations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Session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05400" y="242697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UX Elements: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Typing indicators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Message bubbles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Auto-scroll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Loading states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Error handling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4432CB-0074-5CE7-60D5-A1E33F1C8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60036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5E457C-6D7C-C9FA-53AF-BC5C58A01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46510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885825"/>
            <a:ext cx="783099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333333"/>
                </a:solidFill>
              </a:defRPr>
            </a:pPr>
            <a:r>
              <a:rPr sz="4000" dirty="0"/>
              <a:t>🤖 The Magic: Agentic Behavior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2990" y="2257425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✓ Example 1: 'Hello' → No retrieval needed → Quick response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✓ Example 2: 'Am I eligible?' → Retrieve docs → Detailed answer with sources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✓ Example 3: 'What documents?' → Retrieve + Use context → Contextual response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🎯 This saves API costs and provides faster responses!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💡 The system THINKS before acting, not just blindly retrieving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09725" y="16230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333333"/>
                </a:solidFill>
              </a:defRPr>
            </a:pPr>
            <a:r>
              <a:rPr dirty="0"/>
              <a:t>📡 RESTful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3450" y="306324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t>Authentication: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t>• POST /api/auth/register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t>• POST /api/auth/login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t>• GET /api/auth/me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29413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Chat Operations: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POST /</a:t>
            </a:r>
            <a:r>
              <a:rPr dirty="0" err="1"/>
              <a:t>api</a:t>
            </a:r>
            <a:r>
              <a:rPr dirty="0"/>
              <a:t>/chat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GET /</a:t>
            </a:r>
            <a:r>
              <a:rPr dirty="0" err="1"/>
              <a:t>api</a:t>
            </a:r>
            <a:r>
              <a:rPr dirty="0"/>
              <a:t>/chat/history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GET /</a:t>
            </a:r>
            <a:r>
              <a:rPr dirty="0" err="1"/>
              <a:t>api</a:t>
            </a:r>
            <a:r>
              <a:rPr dirty="0"/>
              <a:t>/chat/sessions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DELETE /</a:t>
            </a:r>
            <a:r>
              <a:rPr dirty="0" err="1"/>
              <a:t>api</a:t>
            </a:r>
            <a:r>
              <a:rPr dirty="0"/>
              <a:t>/chat/session/{id}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4FF122-A885-C191-3970-F226AE7C7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03655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188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333333"/>
                </a:solidFill>
              </a:defRPr>
            </a:pPr>
            <a:r>
              <a:rPr dirty="0"/>
              <a:t>📊 Data &amp;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41935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✓ 9 NELFUND PDF documents processed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✓ 45 total document pages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✓ 68 optimized chunks for retrieval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✓ 44,645 total characters processed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✓ OpenAI text-embedding-3-small for vector embeddings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81075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333333"/>
                </a:solidFill>
              </a:defRPr>
            </a:pPr>
            <a:r>
              <a:rPr dirty="0"/>
              <a:t>🎨 User Experience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5375" y="2238375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📱 Mobile-First Approach - All features work on mobile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🌙 Dark Mode - Reduced eye strain for late-night studying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💡 Smart Suggestions - Prompts to guide users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🔐 Per-User Data - Each student's chats are completely private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⚡ Fast Responses - Optimized queries and caching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0105" y="1118235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333333"/>
                </a:solidFill>
              </a:defRPr>
            </a:pPr>
            <a:r>
              <a:rPr dirty="0"/>
              <a:t>🔐 Secure Authentication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6325" y="2569845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Registration: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Email validation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Password hashing (</a:t>
            </a:r>
            <a:r>
              <a:rPr dirty="0" err="1"/>
              <a:t>bcrypt</a:t>
            </a:r>
            <a:r>
              <a:rPr dirty="0"/>
              <a:t>)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User data storage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Account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4905" y="2569845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Login &amp; Sessions: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Email/password auth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JWT token generation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Auto-redirect to chat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Session persistence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333333"/>
                </a:solidFill>
              </a:defRPr>
            </a:pPr>
            <a:r>
              <a:rPr dirty="0"/>
              <a:t>🏆 Key Achievements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125" y="226695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✅ Agentic RAG system fully functional with conditional logic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✅ Full-stack implementation (Frontend + Backend + Database)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✅ 8 RESTful API endpoints with proper authentication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✅ Per-user chat storage and history retrieval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000">
                <a:solidFill>
                  <a:srgbClr val="555555"/>
                </a:solidFill>
              </a:defRPr>
            </a:pPr>
            <a:r>
              <a:rPr dirty="0"/>
              <a:t>✅ Production-ready code with error handling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7275" y="813435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333333"/>
                </a:solidFill>
              </a:defRPr>
            </a:pPr>
            <a:r>
              <a:rPr dirty="0"/>
              <a:t>🌍 Real-World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188845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By The Numbers: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45 PDF pages processed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68 document chunks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9 NELFUND FAQs covered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24/7 availability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227457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Student Benefits: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Quick, accurate answers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Reduced confusion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Better access to info</a:t>
            </a:r>
          </a:p>
          <a:p>
            <a:pPr>
              <a:spcBef>
                <a:spcPts val="800"/>
              </a:spcBef>
              <a:defRPr sz="1800">
                <a:solidFill>
                  <a:srgbClr val="555555"/>
                </a:solidFill>
              </a:defRPr>
            </a:pPr>
            <a:r>
              <a:rPr dirty="0"/>
              <a:t>• Higher success rate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667EEA"/>
                </a:solidFill>
              </a:defRPr>
            </a:pPr>
            <a:r>
              <a:rPr dirty="0"/>
              <a:t>Thank You! 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2448" y="3840480"/>
            <a:ext cx="7661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555555"/>
                </a:solidFill>
              </a:defRPr>
            </a:pPr>
            <a:r>
              <a:rPr sz="2400" dirty="0"/>
              <a:t>NELFUND Navigator - Empowering Nigerian Students Through AI</a:t>
            </a:r>
            <a:r>
              <a:rPr lang="en-US" sz="2400" dirty="0"/>
              <a:t>.</a:t>
            </a:r>
            <a:endParaRPr sz="24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92</TotalTime>
  <Words>717</Words>
  <Application>Microsoft Office PowerPoint</Application>
  <PresentationFormat>On-screen Show (4:3)</PresentationFormat>
  <Paragraphs>118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Gill Sans MT Condensed</vt:lpstr>
      <vt:lpstr>Trebuchet MS</vt:lpstr>
      <vt:lpstr>Wingdings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Divine Gbadamosi</cp:lastModifiedBy>
  <cp:revision>4</cp:revision>
  <dcterms:created xsi:type="dcterms:W3CDTF">2013-01-27T09:14:16Z</dcterms:created>
  <dcterms:modified xsi:type="dcterms:W3CDTF">2026-01-15T09:37:17Z</dcterms:modified>
  <cp:category/>
</cp:coreProperties>
</file>